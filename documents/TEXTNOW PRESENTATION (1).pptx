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  <p:embeddedFont>
      <p:font typeface="Montserrat"/>
      <p:regular r:id="rId27"/>
      <p:bold r:id="rId28"/>
      <p:italic r:id="rId29"/>
      <p:boldItalic r:id="rId30"/>
    </p:embeddedFont>
    <p:embeddedFont>
      <p:font typeface="Arial Black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TQz7N31w/D7z/z/MPoF8x7lph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Black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a76a70cc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ba76a70cc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a76a70cc2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ba76a70cc2_2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1">
  <p:cSld name="Cover 01">
    <p:bg>
      <p:bgPr>
        <a:solidFill>
          <a:schemeClr val="accen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17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2" name="Google Shape;12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7"/>
            <p:cNvPicPr preferRelativeResize="0"/>
            <p:nvPr/>
          </p:nvPicPr>
          <p:blipFill rotWithShape="1">
            <a:blip r:embed="rId3">
              <a:alphaModFix/>
            </a:blip>
            <a:srcRect b="138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7"/>
            <p:cNvPicPr preferRelativeResize="0"/>
            <p:nvPr/>
          </p:nvPicPr>
          <p:blipFill rotWithShape="1">
            <a:blip r:embed="rId4">
              <a:alphaModFix/>
            </a:blip>
            <a:srcRect b="138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" name="Google Shape;15;p17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6" name="Google Shape;16;p1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7"/>
            <p:cNvPicPr preferRelativeResize="0"/>
            <p:nvPr/>
          </p:nvPicPr>
          <p:blipFill rotWithShape="1">
            <a:blip r:embed="rId3">
              <a:alphaModFix/>
            </a:blip>
            <a:srcRect b="138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7"/>
            <p:cNvPicPr preferRelativeResize="0"/>
            <p:nvPr/>
          </p:nvPicPr>
          <p:blipFill rotWithShape="1">
            <a:blip r:embed="rId4">
              <a:alphaModFix/>
            </a:blip>
            <a:srcRect b="138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Google Shape;19;p17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2" type="title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/>
          <p:nvPr/>
        </p:nvSpPr>
        <p:spPr>
          <a:xfrm>
            <a:off x="457200" y="731520"/>
            <a:ext cx="1828808" cy="557349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7"/>
          <p:cNvSpPr txBox="1"/>
          <p:nvPr>
            <p:ph idx="3" type="title"/>
          </p:nvPr>
        </p:nvSpPr>
        <p:spPr>
          <a:xfrm>
            <a:off x="366600" y="1584967"/>
            <a:ext cx="74109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i="0" sz="4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" type="body"/>
          </p:nvPr>
        </p:nvSpPr>
        <p:spPr>
          <a:xfrm>
            <a:off x="365750" y="1706867"/>
            <a:ext cx="83202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8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 w/ Photo">
  <p:cSld name="Quote - Dark Blue w/ Photo">
    <p:bg>
      <p:bgPr>
        <a:solidFill>
          <a:schemeClr val="dk2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365750" y="1775967"/>
            <a:ext cx="6076500" cy="3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9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9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5" name="Google Shape;35;p19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36" name="Google Shape;36;p19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9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19"/>
          <p:cNvSpPr txBox="1"/>
          <p:nvPr>
            <p:ph idx="2" type="subTitle"/>
          </p:nvPr>
        </p:nvSpPr>
        <p:spPr>
          <a:xfrm>
            <a:off x="3017525" y="5333329"/>
            <a:ext cx="4206300" cy="91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">
  <p:cSld name="Multi-use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0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0"/>
          <p:cNvSpPr txBox="1"/>
          <p:nvPr>
            <p:ph idx="1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43" name="Google Shape;43;p20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0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0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0"/>
          <p:cNvSpPr txBox="1"/>
          <p:nvPr>
            <p:ph type="title"/>
          </p:nvPr>
        </p:nvSpPr>
        <p:spPr>
          <a:xfrm>
            <a:off x="365750" y="365764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2-Line Title">
  <p:cSld name="Multi-use layout w/ 2-Line Titl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1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1"/>
          <p:cNvSpPr txBox="1"/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subTitle"/>
          </p:nvPr>
        </p:nvSpPr>
        <p:spPr>
          <a:xfrm>
            <a:off x="365760" y="1496489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52" name="Google Shape;52;p21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1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1"/>
          <p:cNvSpPr/>
          <p:nvPr/>
        </p:nvSpPr>
        <p:spPr>
          <a:xfrm>
            <a:off x="0" y="458000"/>
            <a:ext cx="137100" cy="97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1">
  <p:cSld name="Multi-use layout w/ Dotted Lines 0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22"/>
          <p:cNvGrpSpPr/>
          <p:nvPr/>
        </p:nvGrpSpPr>
        <p:grpSpPr>
          <a:xfrm>
            <a:off x="4" y="5015936"/>
            <a:ext cx="9143997" cy="1828752"/>
            <a:chOff x="-10" y="3735321"/>
            <a:chExt cx="9139427" cy="1408177"/>
          </a:xfrm>
        </p:grpSpPr>
        <p:pic>
          <p:nvPicPr>
            <p:cNvPr id="57" name="Google Shape;57;p22"/>
            <p:cNvPicPr preferRelativeResize="0"/>
            <p:nvPr/>
          </p:nvPicPr>
          <p:blipFill rotWithShape="1">
            <a:blip r:embed="rId2">
              <a:alphaModFix amt="29000"/>
            </a:blip>
            <a:srcRect b="138" l="0" r="0" t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22"/>
            <p:cNvPicPr preferRelativeResize="0"/>
            <p:nvPr/>
          </p:nvPicPr>
          <p:blipFill rotWithShape="1">
            <a:blip r:embed="rId3">
              <a:alphaModFix amt="29000"/>
            </a:blip>
            <a:srcRect b="138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22"/>
            <p:cNvPicPr preferRelativeResize="0"/>
            <p:nvPr/>
          </p:nvPicPr>
          <p:blipFill rotWithShape="1">
            <a:blip r:embed="rId4">
              <a:alphaModFix amt="29000"/>
            </a:blip>
            <a:srcRect b="138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22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2"/>
          <p:cNvSpPr txBox="1"/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64" name="Google Shape;64;p22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2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Lines 02">
  <p:cSld name="Multi-use layout w/ Dotted Lines 0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23"/>
          <p:cNvGrpSpPr/>
          <p:nvPr/>
        </p:nvGrpSpPr>
        <p:grpSpPr>
          <a:xfrm>
            <a:off x="1" y="5827435"/>
            <a:ext cx="9144001" cy="1030567"/>
            <a:chOff x="0" y="4370576"/>
            <a:chExt cx="9144001" cy="772925"/>
          </a:xfrm>
        </p:grpSpPr>
        <p:pic>
          <p:nvPicPr>
            <p:cNvPr id="69" name="Google Shape;69;p23"/>
            <p:cNvPicPr preferRelativeResize="0"/>
            <p:nvPr/>
          </p:nvPicPr>
          <p:blipFill rotWithShape="1">
            <a:blip r:embed="rId2">
              <a:alphaModFix amt="29000"/>
            </a:blip>
            <a:srcRect b="43663" l="0" r="0" t="140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23"/>
            <p:cNvPicPr preferRelativeResize="0"/>
            <p:nvPr/>
          </p:nvPicPr>
          <p:blipFill rotWithShape="1">
            <a:blip r:embed="rId3">
              <a:alphaModFix amt="29000"/>
            </a:blip>
            <a:srcRect b="43663" l="0" r="0" t="140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23"/>
            <p:cNvPicPr preferRelativeResize="0"/>
            <p:nvPr/>
          </p:nvPicPr>
          <p:blipFill rotWithShape="1">
            <a:blip r:embed="rId4">
              <a:alphaModFix amt="29000"/>
            </a:blip>
            <a:srcRect b="43663" l="0" r="0" t="140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23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3"/>
          <p:cNvSpPr txBox="1"/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76" name="Google Shape;76;p23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3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ulti-use layout w/ Dotted Arrows">
  <p:cSld name="Multi-use layout w/ Dotted Arrow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4"/>
          <p:cNvPicPr preferRelativeResize="0"/>
          <p:nvPr/>
        </p:nvPicPr>
        <p:blipFill rotWithShape="1">
          <a:blip r:embed="rId2">
            <a:alphaModFix/>
          </a:blip>
          <a:srcRect b="0" l="22839" r="0" t="0"/>
          <a:stretch/>
        </p:blipFill>
        <p:spPr>
          <a:xfrm flipH="1">
            <a:off x="7782375" y="3914234"/>
            <a:ext cx="1368150" cy="257496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4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4"/>
          <p:cNvSpPr txBox="1"/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85" name="Google Shape;85;p24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4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Layout">
  <p:cSld name="One Column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/>
          <p:nvPr>
            <p:ph idx="1" type="body"/>
          </p:nvPr>
        </p:nvSpPr>
        <p:spPr>
          <a:xfrm>
            <a:off x="365750" y="1828800"/>
            <a:ext cx="62613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type="title"/>
          </p:nvPr>
        </p:nvSpPr>
        <p:spPr>
          <a:xfrm>
            <a:off x="365750" y="365764"/>
            <a:ext cx="83211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5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25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5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5"/>
          <p:cNvSpPr txBox="1"/>
          <p:nvPr>
            <p:ph idx="2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95" name="Google Shape;95;p25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Layout">
  <p:cSld name="Two Column Layou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3657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365750" y="1828800"/>
            <a:ext cx="41604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26"/>
          <p:cNvSpPr txBox="1"/>
          <p:nvPr>
            <p:ph idx="2" type="body"/>
          </p:nvPr>
        </p:nvSpPr>
        <p:spPr>
          <a:xfrm>
            <a:off x="4617721" y="1828800"/>
            <a:ext cx="41604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6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6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6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6"/>
          <p:cNvSpPr txBox="1"/>
          <p:nvPr>
            <p:ph idx="3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04" name="Google Shape;104;p26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Layout">
  <p:cSld name="Three Column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7"/>
          <p:cNvSpPr txBox="1"/>
          <p:nvPr>
            <p:ph type="title"/>
          </p:nvPr>
        </p:nvSpPr>
        <p:spPr>
          <a:xfrm>
            <a:off x="365750" y="365760"/>
            <a:ext cx="83577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" type="body"/>
          </p:nvPr>
        </p:nvSpPr>
        <p:spPr>
          <a:xfrm>
            <a:off x="365750" y="1828800"/>
            <a:ext cx="2697600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8" name="Google Shape;108;p27"/>
          <p:cNvSpPr txBox="1"/>
          <p:nvPr>
            <p:ph idx="2" type="body"/>
          </p:nvPr>
        </p:nvSpPr>
        <p:spPr>
          <a:xfrm>
            <a:off x="3169031" y="1828800"/>
            <a:ext cx="2697600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9" name="Google Shape;109;p27"/>
          <p:cNvSpPr txBox="1"/>
          <p:nvPr>
            <p:ph idx="3" type="body"/>
          </p:nvPr>
        </p:nvSpPr>
        <p:spPr>
          <a:xfrm>
            <a:off x="6127925" y="1828800"/>
            <a:ext cx="2697600" cy="6801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27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7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7"/>
          <p:cNvSpPr txBox="1"/>
          <p:nvPr>
            <p:ph idx="4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14" name="Google Shape;114;p27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 Layout">
  <p:cSld name="Four Column Layou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457195" y="6462011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type="title"/>
          </p:nvPr>
        </p:nvSpPr>
        <p:spPr>
          <a:xfrm>
            <a:off x="365750" y="365760"/>
            <a:ext cx="83484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1" type="body"/>
          </p:nvPr>
        </p:nvSpPr>
        <p:spPr>
          <a:xfrm>
            <a:off x="365750" y="1828800"/>
            <a:ext cx="1920300" cy="9279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120" name="Google Shape;120;p28"/>
          <p:cNvSpPr txBox="1"/>
          <p:nvPr>
            <p:ph idx="2" type="body"/>
          </p:nvPr>
        </p:nvSpPr>
        <p:spPr>
          <a:xfrm>
            <a:off x="2459408" y="1828800"/>
            <a:ext cx="1920300" cy="9279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121" name="Google Shape;121;p28"/>
          <p:cNvSpPr txBox="1"/>
          <p:nvPr>
            <p:ph idx="3" type="body"/>
          </p:nvPr>
        </p:nvSpPr>
        <p:spPr>
          <a:xfrm>
            <a:off x="4673192" y="1828800"/>
            <a:ext cx="1920300" cy="9279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body"/>
          </p:nvPr>
        </p:nvSpPr>
        <p:spPr>
          <a:xfrm>
            <a:off x="6887000" y="1828800"/>
            <a:ext cx="1920300" cy="9279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/>
        </p:txBody>
      </p:sp>
      <p:sp>
        <p:nvSpPr>
          <p:cNvPr id="123" name="Google Shape;123;p28"/>
          <p:cNvSpPr/>
          <p:nvPr/>
        </p:nvSpPr>
        <p:spPr>
          <a:xfrm>
            <a:off x="660640" y="6489457"/>
            <a:ext cx="14733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8"/>
          <p:cNvSpPr txBox="1"/>
          <p:nvPr>
            <p:ph idx="5" type="subTitle"/>
          </p:nvPr>
        </p:nvSpPr>
        <p:spPr>
          <a:xfrm>
            <a:off x="365760" y="873713"/>
            <a:ext cx="8344800" cy="4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25" name="Google Shape;125;p28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/>
          <p:nvPr/>
        </p:nvSpPr>
        <p:spPr>
          <a:xfrm>
            <a:off x="2291700" y="0"/>
            <a:ext cx="6852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9"/>
          <p:cNvSpPr txBox="1"/>
          <p:nvPr>
            <p:ph idx="1" type="body"/>
          </p:nvPr>
        </p:nvSpPr>
        <p:spPr>
          <a:xfrm>
            <a:off x="365750" y="365760"/>
            <a:ext cx="192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b="1" i="0" sz="26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 sz="1800"/>
            </a:lvl3pPr>
            <a:lvl4pPr indent="-3175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indent="-3175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indent="-3175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indent="-3175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indent="-3175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indent="-3175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/>
        </p:txBody>
      </p:sp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29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9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9"/>
          <p:cNvSpPr txBox="1"/>
          <p:nvPr>
            <p:ph idx="2" type="body"/>
          </p:nvPr>
        </p:nvSpPr>
        <p:spPr>
          <a:xfrm>
            <a:off x="2961200" y="1219200"/>
            <a:ext cx="57255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33" name="Google Shape;133;p29"/>
          <p:cNvSpPr/>
          <p:nvPr/>
        </p:nvSpPr>
        <p:spPr>
          <a:xfrm>
            <a:off x="6369225" y="304800"/>
            <a:ext cx="1322446" cy="1886216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372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9"/>
          <p:cNvSpPr/>
          <p:nvPr/>
        </p:nvSpPr>
        <p:spPr>
          <a:xfrm>
            <a:off x="2295101" y="3689433"/>
            <a:ext cx="2772174" cy="3162776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37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9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9"/>
          <p:cNvPicPr preferRelativeResize="0"/>
          <p:nvPr/>
        </p:nvPicPr>
        <p:blipFill rotWithShape="1">
          <a:blip r:embed="rId2">
            <a:alphaModFix/>
          </a:blip>
          <a:srcRect b="0" l="16763" r="0" t="0"/>
          <a:stretch/>
        </p:blipFill>
        <p:spPr>
          <a:xfrm rot="10800000">
            <a:off x="7338077" y="853333"/>
            <a:ext cx="1805925" cy="3159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rk Blue Left Bar">
  <p:cSld name="Dark Blue Left Ba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0"/>
          <p:cNvSpPr/>
          <p:nvPr/>
        </p:nvSpPr>
        <p:spPr>
          <a:xfrm flipH="1">
            <a:off x="-775" y="0"/>
            <a:ext cx="2743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0"/>
          <p:cNvSpPr txBox="1"/>
          <p:nvPr>
            <p:ph idx="1" type="body"/>
          </p:nvPr>
        </p:nvSpPr>
        <p:spPr>
          <a:xfrm>
            <a:off x="365750" y="365760"/>
            <a:ext cx="237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b="1" i="0" sz="2600" cap="none">
                <a:solidFill>
                  <a:srgbClr val="FFFFFF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 sz="1800">
                <a:solidFill>
                  <a:srgbClr val="FFFFFF"/>
                </a:solidFill>
              </a:defRPr>
            </a:lvl3pPr>
            <a:lvl4pPr indent="-3175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indent="-3175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indent="-3175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indent="-3175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indent="-3175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indent="-3175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0" name="Google Shape;140;p30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0"/>
          <p:cNvSpPr txBox="1"/>
          <p:nvPr>
            <p:ph idx="2" type="body"/>
          </p:nvPr>
        </p:nvSpPr>
        <p:spPr>
          <a:xfrm>
            <a:off x="365750" y="1722200"/>
            <a:ext cx="2210400" cy="34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4" name="Google Shape;144;p30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ayout">
  <p:cSld name="Split Layou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6024564" y="342900"/>
            <a:ext cx="1488103" cy="2122488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4574381" y="3222627"/>
            <a:ext cx="3186406" cy="3635375"/>
          </a:xfrm>
          <a:custGeom>
            <a:rect b="b" l="l" r="r" t="t"/>
            <a:pathLst>
              <a:path extrusionOk="0" h="3635375" w="4248542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>
            <a:off x="7184152" y="845800"/>
            <a:ext cx="1959849" cy="3741797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>
            <a:off x="6491288" y="3671381"/>
            <a:ext cx="1576390" cy="2248408"/>
          </a:xfrm>
          <a:custGeom>
            <a:rect b="b" l="l" r="r" t="t"/>
            <a:pathLst>
              <a:path extrusionOk="0" h="2085" w="195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49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 txBox="1"/>
          <p:nvPr>
            <p:ph idx="1" type="body"/>
          </p:nvPr>
        </p:nvSpPr>
        <p:spPr>
          <a:xfrm>
            <a:off x="365750" y="845800"/>
            <a:ext cx="3827400" cy="44316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indent="-342900" lvl="1" marL="914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indent="-342900" lvl="2" marL="1371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indent="-342900" lvl="3" marL="18288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indent="-342900" lvl="4" marL="22860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indent="-342900" lvl="5" marL="27432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indent="-342900" lvl="6" marL="32004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indent="-342900" lvl="7" marL="365760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indent="-342900" lvl="8" marL="4114800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153" name="Google Shape;153;p31"/>
          <p:cNvSpPr txBox="1"/>
          <p:nvPr>
            <p:ph type="title"/>
          </p:nvPr>
        </p:nvSpPr>
        <p:spPr>
          <a:xfrm>
            <a:off x="365755" y="365760"/>
            <a:ext cx="3978900" cy="8648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1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31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31"/>
          <p:cNvPicPr preferRelativeResize="0"/>
          <p:nvPr/>
        </p:nvPicPr>
        <p:blipFill rotWithShape="1">
          <a:blip r:embed="rId2">
            <a:alphaModFix/>
          </a:blip>
          <a:srcRect b="9583" l="13584" r="0" t="0"/>
          <a:stretch/>
        </p:blipFill>
        <p:spPr>
          <a:xfrm>
            <a:off x="4572000" y="4285667"/>
            <a:ext cx="1693648" cy="257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/>
          <p:nvPr/>
        </p:nvSpPr>
        <p:spPr>
          <a:xfrm>
            <a:off x="8067677" y="304802"/>
            <a:ext cx="1077917" cy="2057988"/>
          </a:xfrm>
          <a:custGeom>
            <a:rect b="b" l="l" r="r" t="t"/>
            <a:pathLst>
              <a:path extrusionOk="0" h="3741797" w="2613132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37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 txBox="1"/>
          <p:nvPr>
            <p:ph idx="2" type="body"/>
          </p:nvPr>
        </p:nvSpPr>
        <p:spPr>
          <a:xfrm>
            <a:off x="4937760" y="1706867"/>
            <a:ext cx="3566400" cy="8217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1pPr>
            <a:lvl2pPr indent="-342900" lvl="1" marL="914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i="0" sz="1800" u="none" cap="none" strike="noStrike">
                <a:solidFill>
                  <a:schemeClr val="lt1"/>
                </a:solidFill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cap="none" strike="noStrike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31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ooter only)">
  <p:cSld name="Blank (footer only)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32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2">
  <p:cSld name="Cover 02">
    <p:bg>
      <p:bgPr>
        <a:solidFill>
          <a:schemeClr val="accen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33"/>
          <p:cNvGrpSpPr/>
          <p:nvPr/>
        </p:nvGrpSpPr>
        <p:grpSpPr>
          <a:xfrm>
            <a:off x="-2" y="3886468"/>
            <a:ext cx="9143627" cy="2971233"/>
            <a:chOff x="-834856" y="2711517"/>
            <a:chExt cx="9978858" cy="2431981"/>
          </a:xfrm>
        </p:grpSpPr>
        <p:pic>
          <p:nvPicPr>
            <p:cNvPr id="167" name="Google Shape;167;p33"/>
            <p:cNvPicPr preferRelativeResize="0"/>
            <p:nvPr/>
          </p:nvPicPr>
          <p:blipFill rotWithShape="1">
            <a:blip r:embed="rId2">
              <a:alphaModFix amt="85000"/>
            </a:blip>
            <a:srcRect b="30781" l="45992" r="0" t="24707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33"/>
            <p:cNvPicPr preferRelativeResize="0"/>
            <p:nvPr/>
          </p:nvPicPr>
          <p:blipFill rotWithShape="1">
            <a:blip r:embed="rId3">
              <a:alphaModFix amt="85000"/>
            </a:blip>
            <a:srcRect b="30786" l="0" r="1930" t="25270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33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3"/>
          <p:cNvSpPr txBox="1"/>
          <p:nvPr>
            <p:ph type="title"/>
          </p:nvPr>
        </p:nvSpPr>
        <p:spPr>
          <a:xfrm>
            <a:off x="366600" y="1584967"/>
            <a:ext cx="74034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b="0" sz="44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71" name="Google Shape;171;p33"/>
          <p:cNvSpPr txBox="1"/>
          <p:nvPr>
            <p:ph idx="2"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2" name="Google Shape;172;p33"/>
          <p:cNvSpPr txBox="1"/>
          <p:nvPr>
            <p:ph idx="3" type="title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3" name="Google Shape;173;p33"/>
          <p:cNvSpPr/>
          <p:nvPr/>
        </p:nvSpPr>
        <p:spPr>
          <a:xfrm>
            <a:off x="457200" y="731520"/>
            <a:ext cx="1828808" cy="557349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3">
  <p:cSld name="Cover 03">
    <p:bg>
      <p:bgPr>
        <a:solidFill>
          <a:schemeClr val="accen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34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176" name="Google Shape;176;p34"/>
            <p:cNvPicPr preferRelativeResize="0"/>
            <p:nvPr/>
          </p:nvPicPr>
          <p:blipFill rotWithShape="1">
            <a:blip r:embed="rId2">
              <a:alphaModFix/>
            </a:blip>
            <a:srcRect b="10228" l="37919" r="0" t="24704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34"/>
            <p:cNvPicPr preferRelativeResize="0"/>
            <p:nvPr/>
          </p:nvPicPr>
          <p:blipFill rotWithShape="1">
            <a:blip r:embed="rId3">
              <a:alphaModFix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34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4"/>
          <p:cNvSpPr txBox="1"/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80" name="Google Shape;180;p34"/>
          <p:cNvSpPr txBox="1"/>
          <p:nvPr>
            <p:ph idx="2"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34"/>
          <p:cNvSpPr txBox="1"/>
          <p:nvPr>
            <p:ph idx="3" type="title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34"/>
          <p:cNvSpPr/>
          <p:nvPr/>
        </p:nvSpPr>
        <p:spPr>
          <a:xfrm>
            <a:off x="457200" y="731520"/>
            <a:ext cx="1828808" cy="557349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04">
  <p:cSld name="Cover 04">
    <p:bg>
      <p:bgPr>
        <a:solidFill>
          <a:schemeClr val="accen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5"/>
          <p:cNvSpPr txBox="1"/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b="0" sz="18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86" name="Google Shape;186;p35"/>
          <p:cNvSpPr txBox="1"/>
          <p:nvPr>
            <p:ph idx="2"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i="0"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35"/>
          <p:cNvSpPr txBox="1"/>
          <p:nvPr>
            <p:ph idx="3" type="title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35"/>
          <p:cNvSpPr/>
          <p:nvPr/>
        </p:nvSpPr>
        <p:spPr>
          <a:xfrm>
            <a:off x="457200" y="731520"/>
            <a:ext cx="1828808" cy="557349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w/ Customer Logo">
  <p:cSld name="Cover w/ Customer Logo">
    <p:bg>
      <p:bgPr>
        <a:solidFill>
          <a:schemeClr val="accen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36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91" name="Google Shape;191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36"/>
            <p:cNvPicPr preferRelativeResize="0"/>
            <p:nvPr/>
          </p:nvPicPr>
          <p:blipFill rotWithShape="1">
            <a:blip r:embed="rId3">
              <a:alphaModFix/>
            </a:blip>
            <a:srcRect b="138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3" name="Google Shape;193;p36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94" name="Google Shape;194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36"/>
            <p:cNvPicPr preferRelativeResize="0"/>
            <p:nvPr/>
          </p:nvPicPr>
          <p:blipFill rotWithShape="1">
            <a:blip r:embed="rId3">
              <a:alphaModFix/>
            </a:blip>
            <a:srcRect b="138" l="0" r="0" t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36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6"/>
          <p:cNvSpPr txBox="1"/>
          <p:nvPr>
            <p:ph type="title"/>
          </p:nvPr>
        </p:nvSpPr>
        <p:spPr>
          <a:xfrm>
            <a:off x="366600" y="1584967"/>
            <a:ext cx="57309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9" name="Google Shape;199;p36"/>
          <p:cNvSpPr txBox="1"/>
          <p:nvPr>
            <p:ph idx="2"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36"/>
          <p:cNvSpPr txBox="1"/>
          <p:nvPr>
            <p:ph idx="3" type="title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cap="none" strike="noStrike">
                <a:solidFill>
                  <a:schemeClr val="dk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1" name="Google Shape;201;p36"/>
          <p:cNvSpPr/>
          <p:nvPr/>
        </p:nvSpPr>
        <p:spPr>
          <a:xfrm>
            <a:off x="6097525" y="0"/>
            <a:ext cx="3046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6"/>
          <p:cNvSpPr/>
          <p:nvPr/>
        </p:nvSpPr>
        <p:spPr>
          <a:xfrm>
            <a:off x="457200" y="731520"/>
            <a:ext cx="1828808" cy="557349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1 (No Graphics)">
  <p:cSld name="Divider - Dark Blue 01 (No Graphics)">
    <p:bg>
      <p:bgPr>
        <a:solidFill>
          <a:schemeClr val="dk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5" name="Google Shape;205;p37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2">
  <p:cSld name="Divider - Dark Blue 02">
    <p:bg>
      <p:bgPr>
        <a:solidFill>
          <a:schemeClr val="dk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8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38"/>
          <p:cNvPicPr preferRelativeResize="0"/>
          <p:nvPr/>
        </p:nvPicPr>
        <p:blipFill rotWithShape="1">
          <a:blip r:embed="rId2">
            <a:alphaModFix amt="27000"/>
          </a:blip>
          <a:srcRect b="0" l="21476" r="0" t="0"/>
          <a:stretch/>
        </p:blipFill>
        <p:spPr>
          <a:xfrm flipH="1">
            <a:off x="7048002" y="2373734"/>
            <a:ext cx="2095998" cy="38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8"/>
          <p:cNvPicPr preferRelativeResize="0"/>
          <p:nvPr/>
        </p:nvPicPr>
        <p:blipFill rotWithShape="1">
          <a:blip r:embed="rId3">
            <a:alphaModFix/>
          </a:blip>
          <a:srcRect b="0" l="20792" r="0" t="10992"/>
          <a:stretch/>
        </p:blipFill>
        <p:spPr>
          <a:xfrm>
            <a:off x="1" y="1"/>
            <a:ext cx="1320175" cy="215363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8"/>
          <p:cNvSpPr txBox="1"/>
          <p:nvPr>
            <p:ph idx="1" type="body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3">
  <p:cSld name="Divider - Dark Blue 03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4" name="Google Shape;214;p39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15" name="Google Shape;215;p39"/>
            <p:cNvPicPr preferRelativeResize="0"/>
            <p:nvPr/>
          </p:nvPicPr>
          <p:blipFill rotWithShape="1">
            <a:blip r:embed="rId2">
              <a:alphaModFix amt="72000"/>
            </a:blip>
            <a:srcRect b="0" l="0" r="0" t="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39"/>
            <p:cNvPicPr preferRelativeResize="0"/>
            <p:nvPr/>
          </p:nvPicPr>
          <p:blipFill rotWithShape="1">
            <a:blip r:embed="rId3">
              <a:alphaModFix amt="72000"/>
            </a:blip>
            <a:srcRect b="138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39"/>
            <p:cNvPicPr preferRelativeResize="0"/>
            <p:nvPr/>
          </p:nvPicPr>
          <p:blipFill rotWithShape="1">
            <a:blip r:embed="rId4">
              <a:alphaModFix amt="72000"/>
            </a:blip>
            <a:srcRect b="138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39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9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9"/>
          <p:cNvSpPr txBox="1"/>
          <p:nvPr>
            <p:ph idx="1" type="body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4">
  <p:cSld name="Divider - Dark Blue 04">
    <p:bg>
      <p:bgPr>
        <a:solidFill>
          <a:schemeClr val="dk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0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40"/>
          <p:cNvGrpSpPr/>
          <p:nvPr/>
        </p:nvGrpSpPr>
        <p:grpSpPr>
          <a:xfrm>
            <a:off x="4" y="2405300"/>
            <a:ext cx="9143996" cy="4452701"/>
            <a:chOff x="4" y="1803975"/>
            <a:chExt cx="9143996" cy="3339526"/>
          </a:xfrm>
        </p:grpSpPr>
        <p:pic>
          <p:nvPicPr>
            <p:cNvPr id="225" name="Google Shape;225;p40"/>
            <p:cNvPicPr preferRelativeResize="0"/>
            <p:nvPr/>
          </p:nvPicPr>
          <p:blipFill rotWithShape="1">
            <a:blip r:embed="rId2">
              <a:alphaModFix amt="57000"/>
            </a:blip>
            <a:srcRect b="34253" l="32605" r="0" t="0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40"/>
            <p:cNvPicPr preferRelativeResize="0"/>
            <p:nvPr/>
          </p:nvPicPr>
          <p:blipFill rotWithShape="1">
            <a:blip r:embed="rId3">
              <a:alphaModFix amt="57000"/>
            </a:blip>
            <a:srcRect b="34257" l="0" r="17498" t="0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- Dark Blue 05">
  <p:cSld name="Divider - Dark Blue 05">
    <p:bg>
      <p:bgPr>
        <a:solidFill>
          <a:schemeClr val="dk2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1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41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232" name="Google Shape;232;p41"/>
            <p:cNvPicPr preferRelativeResize="0"/>
            <p:nvPr/>
          </p:nvPicPr>
          <p:blipFill rotWithShape="1">
            <a:blip r:embed="rId2">
              <a:alphaModFix amt="58000"/>
            </a:blip>
            <a:srcRect b="10228" l="37919" r="0" t="24704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41"/>
            <p:cNvPicPr preferRelativeResize="0"/>
            <p:nvPr/>
          </p:nvPicPr>
          <p:blipFill rotWithShape="1">
            <a:blip r:embed="rId3">
              <a:alphaModFix amt="58000"/>
            </a:blip>
            <a:srcRect b="9950" l="0" r="59873" t="2527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4" name="Google Shape;234;p41"/>
          <p:cNvSpPr txBox="1"/>
          <p:nvPr>
            <p:ph idx="1" type="body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 Blue">
  <p:cSld name="Quote - Dark Blue">
    <p:bg>
      <p:bgPr>
        <a:solidFill>
          <a:schemeClr val="dk2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2"/>
          <p:cNvSpPr txBox="1"/>
          <p:nvPr>
            <p:ph idx="1" type="body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 cap="none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42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2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2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40" name="Google Shape;240;p42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41" name="Google Shape;241;p42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42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42"/>
          <p:cNvSpPr txBox="1"/>
          <p:nvPr>
            <p:ph idx="2" type="subTitle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b="1" sz="1600">
                <a:solidFill>
                  <a:srgbClr val="FFFFFF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White">
  <p:cSld name="Quote - White"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idx="1" type="body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b="1" sz="4200" cap="none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46" name="Google Shape;246;p43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47" name="Google Shape;247;p43"/>
            <p:cNvSpPr/>
            <p:nvPr/>
          </p:nvSpPr>
          <p:spPr>
            <a:xfrm>
              <a:off x="865451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43"/>
            <p:cNvSpPr/>
            <p:nvPr/>
          </p:nvSpPr>
          <p:spPr>
            <a:xfrm>
              <a:off x="2693163" y="2114550"/>
              <a:ext cx="1571381" cy="2475755"/>
            </a:xfrm>
            <a:custGeom>
              <a:rect b="b" l="l" r="r" t="t"/>
              <a:pathLst>
                <a:path extrusionOk="0" h="5757569" w="3654375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43"/>
          <p:cNvSpPr txBox="1"/>
          <p:nvPr>
            <p:ph idx="2" type="subTitle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b="1" sz="1600">
                <a:solidFill>
                  <a:srgbClr val="5B5B5B"/>
                </a:solidFill>
              </a:defRPr>
            </a:lvl1pPr>
            <a:lvl2pPr lvl="1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43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eam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/>
          <p:nvPr/>
        </p:nvSpPr>
        <p:spPr>
          <a:xfrm>
            <a:off x="0" y="1493600"/>
            <a:ext cx="9144000" cy="53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4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6" name="Google Shape;256;p44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4"/>
          <p:cNvSpPr/>
          <p:nvPr/>
        </p:nvSpPr>
        <p:spPr>
          <a:xfrm>
            <a:off x="457195" y="6461760"/>
            <a:ext cx="135250" cy="171451"/>
          </a:xfrm>
          <a:custGeom>
            <a:rect b="b" l="l" r="r" t="t"/>
            <a:pathLst>
              <a:path extrusionOk="0" h="5143500" w="5409981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4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b="0" i="0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44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 01">
    <p:bg>
      <p:bgPr>
        <a:solidFill>
          <a:schemeClr val="accen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5"/>
          <p:cNvSpPr/>
          <p:nvPr/>
        </p:nvSpPr>
        <p:spPr>
          <a:xfrm>
            <a:off x="457200" y="5925549"/>
            <a:ext cx="1444930" cy="44060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45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5"/>
          <p:cNvSpPr txBox="1"/>
          <p:nvPr>
            <p:ph idx="1" type="body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2">
  <p:cSld name="Thank You 02">
    <p:bg>
      <p:bgPr>
        <a:solidFill>
          <a:schemeClr val="accen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/>
          <p:nvPr/>
        </p:nvSpPr>
        <p:spPr>
          <a:xfrm>
            <a:off x="457200" y="5925549"/>
            <a:ext cx="1444930" cy="440600"/>
          </a:xfrm>
          <a:custGeom>
            <a:rect b="b" l="l" r="r" t="t"/>
            <a:pathLst>
              <a:path extrusionOk="0" h="2451" w="10771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3"/>
              <a:buFont typeface="Arial"/>
              <a:buNone/>
            </a:pPr>
            <a:r>
              <a:t/>
            </a:r>
            <a:endParaRPr b="0" i="0" sz="101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6"/>
          <p:cNvSpPr txBox="1"/>
          <p:nvPr>
            <p:ph idx="1" type="body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b="1" sz="5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46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2025 Snowflake Inc. All Rights Reserved</a:t>
            </a:r>
            <a:endParaRPr b="0" i="0" sz="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46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69" name="Google Shape;269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46"/>
            <p:cNvPicPr preferRelativeResize="0"/>
            <p:nvPr/>
          </p:nvPicPr>
          <p:blipFill rotWithShape="1">
            <a:blip r:embed="rId3">
              <a:alphaModFix/>
            </a:blip>
            <a:srcRect b="138" l="0" r="0" t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46"/>
            <p:cNvPicPr preferRelativeResize="0"/>
            <p:nvPr/>
          </p:nvPicPr>
          <p:blipFill rotWithShape="1">
            <a:blip r:embed="rId4">
              <a:alphaModFix/>
            </a:blip>
            <a:srcRect b="138" l="0" r="0" t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4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B8B8B"/>
                </a:solidFill>
              </a:defRPr>
            </a:lvl1pPr>
            <a:lvl2pPr lvl="1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8B8B8B"/>
                </a:solidFill>
              </a:defRPr>
            </a:lvl2pPr>
            <a:lvl3pPr lvl="2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3pPr>
            <a:lvl4pPr lvl="3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4pPr>
            <a:lvl5pPr lvl="4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5pPr>
            <a:lvl6pPr lvl="5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6pPr>
            <a:lvl7pPr lvl="6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7pPr>
            <a:lvl8pPr lvl="7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B8B8B"/>
                </a:solidFill>
              </a:defRPr>
            </a:lvl8pPr>
            <a:lvl9pPr lvl="8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>
                <a:solidFill>
                  <a:srgbClr val="8B8B8B"/>
                </a:solidFill>
              </a:defRPr>
            </a:lvl9pPr>
          </a:lstStyle>
          <a:p/>
        </p:txBody>
      </p:sp>
      <p:sp>
        <p:nvSpPr>
          <p:cNvPr id="275" name="Google Shape;275;p4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4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7" name="Google Shape;277;p47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365750" y="1706867"/>
            <a:ext cx="8320200" cy="5031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2" type="sldNum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" name="Google Shape;9;p16"/>
          <p:cNvSpPr txBox="1"/>
          <p:nvPr/>
        </p:nvSpPr>
        <p:spPr>
          <a:xfrm>
            <a:off x="3837300" y="-874133"/>
            <a:ext cx="5306700" cy="2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C8C8C8"/>
                </a:solidFill>
                <a:latin typeface="Arial"/>
                <a:ea typeface="Arial"/>
                <a:cs typeface="Arial"/>
                <a:sym typeface="Arial"/>
              </a:rPr>
              <a:t>SNOWFLAKE GSLIDES THEME 2025.01</a:t>
            </a:r>
            <a:endParaRPr b="0" i="0" sz="800" u="none" cap="none" strike="noStrike">
              <a:solidFill>
                <a:srgbClr val="C8C8C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"/>
          <p:cNvSpPr txBox="1"/>
          <p:nvPr>
            <p:ph idx="3" type="title"/>
          </p:nvPr>
        </p:nvSpPr>
        <p:spPr>
          <a:xfrm>
            <a:off x="366600" y="1584967"/>
            <a:ext cx="7410900" cy="256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lang="en-US"/>
              <a:t>Machine Learning Pipeline on Snowflake</a:t>
            </a:r>
            <a:endParaRPr/>
          </a:p>
        </p:txBody>
      </p:sp>
      <p:sp>
        <p:nvSpPr>
          <p:cNvPr id="283" name="Google Shape;283;p1"/>
          <p:cNvSpPr txBox="1"/>
          <p:nvPr>
            <p:ph idx="4294967295" type="subTitle"/>
          </p:nvPr>
        </p:nvSpPr>
        <p:spPr>
          <a:xfrm>
            <a:off x="1234440" y="427024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5B5B5B"/>
                </a:solidFill>
                <a:latin typeface="Arial"/>
                <a:ea typeface="Arial"/>
                <a:cs typeface="Arial"/>
                <a:sym typeface="Arial"/>
              </a:rPr>
              <a:t>End-to-end ML lifecycle: Feature Engineering, Training, Deployment, and Monitoring</a:t>
            </a:r>
            <a:endParaRPr b="0" i="0" sz="1800" u="none" cap="none" strike="noStrike">
              <a:solidFill>
                <a:srgbClr val="5B5B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Agenda</a:t>
            </a:r>
            <a:endParaRPr/>
          </a:p>
        </p:txBody>
      </p:sp>
      <p:sp>
        <p:nvSpPr>
          <p:cNvPr id="289" name="Google Shape;289;p2"/>
          <p:cNvSpPr txBox="1"/>
          <p:nvPr>
            <p:ph idx="1" type="body"/>
          </p:nvPr>
        </p:nvSpPr>
        <p:spPr>
          <a:xfrm>
            <a:off x="365750" y="1115569"/>
            <a:ext cx="83202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Business Problem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Architecture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 Store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 Workspace &amp; Notebooks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Experiment Tracking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Registry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Monitoring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Image Repository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Snowpark Container Services (SPCS)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Job Execution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Automation with Tasks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Evaluation Metrics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Next steps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Business Problem</a:t>
            </a:r>
            <a:endParaRPr/>
          </a:p>
        </p:txBody>
      </p:sp>
      <p:sp>
        <p:nvSpPr>
          <p:cNvPr id="295" name="Google Shape;295;p3"/>
          <p:cNvSpPr txBox="1"/>
          <p:nvPr>
            <p:ph idx="1" type="body"/>
          </p:nvPr>
        </p:nvSpPr>
        <p:spPr>
          <a:xfrm>
            <a:off x="365750" y="1069848"/>
            <a:ext cx="8320200" cy="33700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Traditional ML workflows are fragmented: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stored in one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done in external environments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Deployment requires additional tools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Manual version tracking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Difficult to monitor model performance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Snowflake unifies data, ML, and operations in a single platform.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a76a70cc2_2_0"/>
          <p:cNvSpPr txBox="1"/>
          <p:nvPr>
            <p:ph type="title"/>
          </p:nvPr>
        </p:nvSpPr>
        <p:spPr>
          <a:xfrm>
            <a:off x="366550" y="365764"/>
            <a:ext cx="8348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Snowflake ML Architecture</a:t>
            </a:r>
            <a:endParaRPr/>
          </a:p>
        </p:txBody>
      </p:sp>
      <p:pic>
        <p:nvPicPr>
          <p:cNvPr id="301" name="Google Shape;301;g3ba76a70cc2_2_0" title="snowflake ml 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03050"/>
            <a:ext cx="8348401" cy="407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Feature Store</a:t>
            </a:r>
            <a:endParaRPr/>
          </a:p>
        </p:txBody>
      </p:sp>
      <p:sp>
        <p:nvSpPr>
          <p:cNvPr id="307" name="Google Shape;307;p4"/>
          <p:cNvSpPr txBox="1"/>
          <p:nvPr>
            <p:ph idx="1" type="body"/>
          </p:nvPr>
        </p:nvSpPr>
        <p:spPr>
          <a:xfrm>
            <a:off x="365750" y="1024128"/>
            <a:ext cx="8320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Centralized repository for ML features.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Benefits: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Consistent features for training and inference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Eliminates duplicate feature logic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Ensures point-in-time correctness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Reusable feature definitions across models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Improved governance and lineage tracking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/>
              <a:t>Implemented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 Store with 11 feature views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ML Workspace &amp; Notebooks</a:t>
            </a:r>
            <a:endParaRPr/>
          </a:p>
        </p:txBody>
      </p:sp>
      <p:sp>
        <p:nvSpPr>
          <p:cNvPr id="313" name="Google Shape;313;p5"/>
          <p:cNvSpPr txBox="1"/>
          <p:nvPr>
            <p:ph idx="1" type="body"/>
          </p:nvPr>
        </p:nvSpPr>
        <p:spPr>
          <a:xfrm>
            <a:off x="365750" y="1188720"/>
            <a:ext cx="8320200" cy="305157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Integrated development environment inside Snowflake.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Capabilities: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Python file and SQL, and Notebook in the browser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Direct data access without movement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Built-in compute environment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Visualization and debugging tools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Removes dependency on local or external environments.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Experiment Tracking</a:t>
            </a:r>
            <a:endParaRPr/>
          </a:p>
        </p:txBody>
      </p:sp>
      <p:sp>
        <p:nvSpPr>
          <p:cNvPr id="319" name="Google Shape;319;p6"/>
          <p:cNvSpPr txBox="1"/>
          <p:nvPr>
            <p:ph idx="1" type="body"/>
          </p:nvPr>
        </p:nvSpPr>
        <p:spPr>
          <a:xfrm>
            <a:off x="365750" y="1088137"/>
            <a:ext cx="8320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Systematically records: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versions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parameters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Performance metrics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artifacts and logs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Experiment logging enabled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Enables comparison of experiments and reproducible results.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Model Registry</a:t>
            </a:r>
            <a:endParaRPr/>
          </a:p>
        </p:txBody>
      </p:sp>
      <p:sp>
        <p:nvSpPr>
          <p:cNvPr id="325" name="Google Shape;325;p7"/>
          <p:cNvSpPr txBox="1"/>
          <p:nvPr>
            <p:ph idx="1" type="body"/>
          </p:nvPr>
        </p:nvSpPr>
        <p:spPr>
          <a:xfrm>
            <a:off x="365750" y="996696"/>
            <a:ext cx="83202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Centralized storage for trained models.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Provides: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Version control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Promotion workflow (staging → production)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Metadata and documentation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Rollback capability</a:t>
            </a:r>
            <a:endParaRPr/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registry to register model with metadata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Ensures only approved and tracked models are deployed.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Model Monitoring</a:t>
            </a:r>
            <a:endParaRPr/>
          </a:p>
        </p:txBody>
      </p:sp>
      <p:sp>
        <p:nvSpPr>
          <p:cNvPr id="331" name="Google Shape;331;p8"/>
          <p:cNvSpPr txBox="1"/>
          <p:nvPr>
            <p:ph idx="1" type="body"/>
          </p:nvPr>
        </p:nvSpPr>
        <p:spPr>
          <a:xfrm>
            <a:off x="365750" y="1161288"/>
            <a:ext cx="8320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Tracks model performance after deployment.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Monitors: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Prediction drift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drift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Accuracy changes over time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Feature-level distribution shifts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monitor to monitor model and detect drift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Supports proactive retraining and governance.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Image Repository</a:t>
            </a:r>
            <a:endParaRPr/>
          </a:p>
        </p:txBody>
      </p:sp>
      <p:sp>
        <p:nvSpPr>
          <p:cNvPr id="337" name="Google Shape;337;p9"/>
          <p:cNvSpPr txBox="1"/>
          <p:nvPr>
            <p:ph idx="1" type="body"/>
          </p:nvPr>
        </p:nvSpPr>
        <p:spPr>
          <a:xfrm>
            <a:off x="365750" y="1133856"/>
            <a:ext cx="83202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Stores Docker images securely inside Snowflake.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Advantages: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Consistent runtime environments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 external container registry needed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Governance and access control included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Easy deployment to SPCS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Image stored in snowflake image repository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Ideal for custom ML frameworks and dependencies.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Snowpark Container Services (SPCS)</a:t>
            </a:r>
            <a:endParaRPr/>
          </a:p>
        </p:txBody>
      </p:sp>
      <p:sp>
        <p:nvSpPr>
          <p:cNvPr id="343" name="Google Shape;343;p10"/>
          <p:cNvSpPr txBox="1"/>
          <p:nvPr>
            <p:ph idx="1" type="body"/>
          </p:nvPr>
        </p:nvSpPr>
        <p:spPr>
          <a:xfrm>
            <a:off x="365750" y="1133856"/>
            <a:ext cx="8320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Runs Docker containers directly in Snowflake compute.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Use cases: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Custom ML training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Batch inference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Microservices / APIs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Large-scale data processing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and inference workloads deployed in SPCS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Snowflake manages scaling, security, and orchestration.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Executing Jobs in SPCS</a:t>
            </a:r>
            <a:endParaRPr/>
          </a:p>
        </p:txBody>
      </p:sp>
      <p:sp>
        <p:nvSpPr>
          <p:cNvPr id="349" name="Google Shape;349;p11"/>
          <p:cNvSpPr txBox="1"/>
          <p:nvPr>
            <p:ph idx="1" type="body"/>
          </p:nvPr>
        </p:nvSpPr>
        <p:spPr>
          <a:xfrm>
            <a:off x="365750" y="1115568"/>
            <a:ext cx="83202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Jobs run one-off tasks such as: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Training scripts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Batch inference workloads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transformations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Snowflake handles: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Logging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Scaling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Failover and retries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Inference and training jobs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Automation Using Tasks</a:t>
            </a:r>
            <a:endParaRPr/>
          </a:p>
        </p:txBody>
      </p:sp>
      <p:sp>
        <p:nvSpPr>
          <p:cNvPr id="355" name="Google Shape;355;p12"/>
          <p:cNvSpPr txBox="1"/>
          <p:nvPr>
            <p:ph idx="1" type="body"/>
          </p:nvPr>
        </p:nvSpPr>
        <p:spPr>
          <a:xfrm>
            <a:off x="365750" y="1161288"/>
            <a:ext cx="83202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Tasks schedule and automate ML processes.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Example workflow: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Train model daily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Generate monitoring reports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Run batch predictions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Update ground truth data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Implemented: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Automated job execution on schedule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Eliminates external schedulers.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3"/>
          <p:cNvSpPr txBox="1"/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Evaluation Metrics Overview</a:t>
            </a:r>
            <a:endParaRPr/>
          </a:p>
        </p:txBody>
      </p:sp>
      <p:sp>
        <p:nvSpPr>
          <p:cNvPr id="361" name="Google Shape;361;p13"/>
          <p:cNvSpPr txBox="1"/>
          <p:nvPr>
            <p:ph idx="1" type="body"/>
          </p:nvPr>
        </p:nvSpPr>
        <p:spPr>
          <a:xfrm>
            <a:off x="365750" y="1207009"/>
            <a:ext cx="8320200" cy="400722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MAE (Mean Absolute Error):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Measures the average difference between predicted and actual values.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Our MAE = 1.59 days (On average, predictions are off by about 1.6 days.)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RMSE (Root Mean Squared Error):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Penalizes larger mistakes more heavily.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Our RMSE = 1.97 days (Typical prediction error is around 2 days, with big errors being rare.) 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Interpretation: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model performs well for a 7-day forecasting window.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Lower values = better prediction accuracy.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/>
          <p:nvPr>
            <p:ph type="title"/>
          </p:nvPr>
        </p:nvSpPr>
        <p:spPr>
          <a:xfrm>
            <a:off x="366550" y="365764"/>
            <a:ext cx="8348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367" name="Google Shape;367;p14"/>
          <p:cNvSpPr txBox="1"/>
          <p:nvPr>
            <p:ph idx="1" type="body"/>
          </p:nvPr>
        </p:nvSpPr>
        <p:spPr>
          <a:xfrm>
            <a:off x="365750" y="1119677"/>
            <a:ext cx="8320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Refactor experimental code into clean, production-</a:t>
            </a:r>
            <a:r>
              <a:rPr lang="en-US"/>
              <a:t>ready</a:t>
            </a:r>
            <a:r>
              <a:rPr lang="en-US"/>
              <a:t> modules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Continue improving features and model performance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Guide customer on CI/CD best practices in snowflake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Next presentation will focus on the model details: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Feature</a:t>
            </a:r>
            <a:r>
              <a:rPr lang="en-US"/>
              <a:t> importance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Error analysis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Interpretability insight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Optimization strategy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a76a70cc2_2_11"/>
          <p:cNvSpPr txBox="1"/>
          <p:nvPr>
            <p:ph type="title"/>
          </p:nvPr>
        </p:nvSpPr>
        <p:spPr>
          <a:xfrm>
            <a:off x="366550" y="365764"/>
            <a:ext cx="83484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</a:rPr>
              <a:t>Summary</a:t>
            </a:r>
            <a:endParaRPr/>
          </a:p>
        </p:txBody>
      </p:sp>
      <p:sp>
        <p:nvSpPr>
          <p:cNvPr id="373" name="Google Shape;373;g3ba76a70cc2_2_11"/>
          <p:cNvSpPr txBox="1"/>
          <p:nvPr>
            <p:ph idx="1" type="body"/>
          </p:nvPr>
        </p:nvSpPr>
        <p:spPr>
          <a:xfrm>
            <a:off x="365750" y="1119677"/>
            <a:ext cx="83202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Snowflake provides a complete ML ecosystem: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Unified data and compute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Governed feature store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Notebook-based development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Automated experiment tracking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Model registry and versioning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Monitoring for drift detection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Container execution (SPCS)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Automated pipelines via Tasks</a:t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Enables reliable, scalable end-to-end ML workflows.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5"/>
          <p:cNvSpPr txBox="1"/>
          <p:nvPr>
            <p:ph idx="1" type="body"/>
          </p:nvPr>
        </p:nvSpPr>
        <p:spPr>
          <a:xfrm>
            <a:off x="365750" y="1775967"/>
            <a:ext cx="6076500" cy="34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4200"/>
              <a:buNone/>
            </a:pPr>
            <a:r>
              <a:rPr b="1" lang="en-US" sz="4200" cap="none">
                <a:solidFill>
                  <a:schemeClr val="lt1"/>
                </a:solidFill>
              </a:rPr>
              <a:t>Thank you.</a:t>
            </a:r>
            <a:endParaRPr/>
          </a:p>
        </p:txBody>
      </p:sp>
      <p:sp>
        <p:nvSpPr>
          <p:cNvPr id="379" name="Google Shape;379;p15"/>
          <p:cNvSpPr txBox="1"/>
          <p:nvPr>
            <p:ph idx="2" type="subTitle"/>
          </p:nvPr>
        </p:nvSpPr>
        <p:spPr>
          <a:xfrm>
            <a:off x="3017525" y="5333329"/>
            <a:ext cx="4206300" cy="91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342900" lvl="0" marL="457200" rtl="0"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b="1" lang="en-US" sz="1600">
                <a:solidFill>
                  <a:srgbClr val="FFFFFF"/>
                </a:solidFill>
              </a:rPr>
              <a:t>Questions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